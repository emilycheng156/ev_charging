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59" r:id="rId5"/>
    <p:sldId id="257" r:id="rId6"/>
    <p:sldId id="262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598"/>
  </p:normalViewPr>
  <p:slideViewPr>
    <p:cSldViewPr snapToGrid="0" snapToObjects="1">
      <p:cViewPr varScale="1">
        <p:scale>
          <a:sx n="119" d="100"/>
          <a:sy n="119" d="100"/>
        </p:scale>
        <p:origin x="19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t>EV Charging Demand &amp; Forecast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lang="en-US" b="1" dirty="0"/>
              <a:t>Goal:</a:t>
            </a:r>
          </a:p>
          <a:p>
            <a:pPr marL="0" indent="0">
              <a:buNone/>
              <a:defRPr sz="2000"/>
            </a:pPr>
            <a:r>
              <a:rPr lang="en-US" dirty="0"/>
              <a:t>Build an end-to-end EV Charging analytics and forecasting demand dashboard using SQL, Python, and Tableau</a:t>
            </a:r>
          </a:p>
          <a:p>
            <a:pPr>
              <a:defRPr sz="2000"/>
            </a:pPr>
            <a:endParaRPr lang="en-US" dirty="0"/>
          </a:p>
          <a:p>
            <a:pPr marL="0" indent="0">
              <a:buNone/>
              <a:defRPr sz="2000"/>
            </a:pPr>
            <a:r>
              <a:rPr lang="en-US" b="1" dirty="0"/>
              <a:t>Key Components:</a:t>
            </a:r>
          </a:p>
          <a:p>
            <a:pPr>
              <a:defRPr sz="2000"/>
            </a:pPr>
            <a:r>
              <a:rPr lang="en-US" dirty="0"/>
              <a:t>Data ingestion + cleaning</a:t>
            </a:r>
          </a:p>
          <a:p>
            <a:pPr>
              <a:defRPr sz="2000"/>
            </a:pPr>
            <a:r>
              <a:rPr lang="en-US" dirty="0"/>
              <a:t>Feature engineering and forecasting model (SARIMAX)</a:t>
            </a:r>
          </a:p>
          <a:p>
            <a:pPr>
              <a:defRPr sz="2000"/>
            </a:pPr>
            <a:r>
              <a:rPr lang="en-US" dirty="0" err="1"/>
              <a:t>BigQuery</a:t>
            </a:r>
            <a:r>
              <a:rPr lang="en-US" dirty="0"/>
              <a:t> SQL pipelines</a:t>
            </a:r>
          </a:p>
          <a:p>
            <a:pPr>
              <a:defRPr sz="2000"/>
            </a:pPr>
            <a:r>
              <a:rPr lang="en-US" dirty="0"/>
              <a:t>Interactive Tableau dashboard</a:t>
            </a:r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Languages &amp; Tools</a:t>
            </a:r>
            <a:endParaRPr lang="en-US" dirty="0"/>
          </a:p>
          <a:p>
            <a:r>
              <a:rPr lang="en-US" dirty="0"/>
              <a:t>Python (Pandas, </a:t>
            </a:r>
            <a:r>
              <a:rPr lang="en-US" dirty="0" err="1"/>
              <a:t>Statsmodels</a:t>
            </a:r>
            <a:r>
              <a:rPr lang="en-US" dirty="0"/>
              <a:t>)</a:t>
            </a:r>
          </a:p>
          <a:p>
            <a:r>
              <a:rPr lang="en-US" dirty="0" err="1"/>
              <a:t>BigQuery</a:t>
            </a:r>
            <a:r>
              <a:rPr lang="en-US" dirty="0"/>
              <a:t> SQL</a:t>
            </a:r>
          </a:p>
          <a:p>
            <a:r>
              <a:rPr lang="en-US" dirty="0"/>
              <a:t>Tableau</a:t>
            </a:r>
          </a:p>
          <a:p>
            <a:r>
              <a:rPr lang="en-US" dirty="0" err="1"/>
              <a:t>JupyterLab</a:t>
            </a:r>
            <a:r>
              <a:rPr lang="en-US" dirty="0"/>
              <a:t> / VS Code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Skills Demonstrated</a:t>
            </a:r>
            <a:endParaRPr lang="en-US" dirty="0"/>
          </a:p>
          <a:p>
            <a:r>
              <a:rPr lang="en-US" dirty="0"/>
              <a:t>Time-series forecasting</a:t>
            </a:r>
          </a:p>
          <a:p>
            <a:r>
              <a:rPr lang="en-US" dirty="0"/>
              <a:t>Data visualization</a:t>
            </a:r>
          </a:p>
          <a:p>
            <a:r>
              <a:rPr lang="en-US" dirty="0"/>
              <a:t>SQL data modeling</a:t>
            </a:r>
          </a:p>
          <a:p>
            <a:r>
              <a:rPr lang="en-US" dirty="0"/>
              <a:t>KPI development</a:t>
            </a:r>
          </a:p>
          <a:p>
            <a:r>
              <a:rPr lang="en-US" dirty="0"/>
              <a:t>Dashboard design</a:t>
            </a:r>
          </a:p>
          <a:p>
            <a:pPr marL="0" indent="0">
              <a:buNone/>
              <a:defRPr sz="20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E025F-9FDE-8126-FC5A-C97D9A06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E1D2D-0BC3-C291-8AB6-15118E655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rPr lang="en-US" dirty="0"/>
              <a:t>High Level Data Metrics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10825-C609-B4D2-0E54-F06A75C97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From the full dataset (five cities):</a:t>
            </a:r>
          </a:p>
          <a:p>
            <a:r>
              <a:rPr lang="en-US" sz="2400" b="1" dirty="0"/>
              <a:t>Total Sessions:</a:t>
            </a:r>
            <a:r>
              <a:rPr lang="en-US" sz="2400" dirty="0"/>
              <a:t> 1,320</a:t>
            </a:r>
          </a:p>
          <a:p>
            <a:r>
              <a:rPr lang="en-US" sz="2400" b="1" dirty="0"/>
              <a:t>Total Energy Delivered:</a:t>
            </a:r>
            <a:r>
              <a:rPr lang="en-US" sz="2400" dirty="0"/>
              <a:t> 53,474 kWh</a:t>
            </a:r>
          </a:p>
          <a:p>
            <a:r>
              <a:rPr lang="en-US" sz="2400" b="1" dirty="0"/>
              <a:t>Total Revenue:</a:t>
            </a:r>
            <a:r>
              <a:rPr lang="en-US" sz="2400" dirty="0"/>
              <a:t> $29,767.78</a:t>
            </a:r>
          </a:p>
          <a:p>
            <a:r>
              <a:rPr lang="en-US" sz="2400" b="1" dirty="0"/>
              <a:t>Dynamic Filters:</a:t>
            </a:r>
            <a:r>
              <a:rPr lang="en-US" sz="2400" dirty="0"/>
              <a:t> KPIs update instantly based on city + date selection</a:t>
            </a:r>
          </a:p>
          <a:p>
            <a:pPr marL="0" indent="0">
              <a:buNone/>
            </a:pPr>
            <a:r>
              <a:rPr lang="en-US" sz="2400" dirty="0"/>
              <a:t>These KPIs form the primary operational view of overall EV charging activity.</a:t>
            </a:r>
          </a:p>
          <a:p>
            <a:pPr marL="0" indent="0">
              <a:buNone/>
              <a:defRPr sz="2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1816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t>Dashboard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38557c62-134a-4845-9a86-6b85bbdc1d7a.png">
            <a:extLst>
              <a:ext uri="{FF2B5EF4-FFF2-40B4-BE49-F238E27FC236}">
                <a16:creationId xmlns:a16="http://schemas.microsoft.com/office/drawing/2014/main" id="{67E47225-17DE-D380-0639-E15E3E315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0" y="1267030"/>
            <a:ext cx="8963510" cy="5041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rPr dirty="0"/>
              <a:t>Key </a:t>
            </a:r>
            <a:r>
              <a:rPr lang="en-US" dirty="0"/>
              <a:t>Findings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dirty="0"/>
              <a:t>Daily charging demand varies significantly across cities, with mid‑week usage peaks</a:t>
            </a:r>
          </a:p>
          <a:p>
            <a:pPr>
              <a:defRPr sz="2000"/>
            </a:pPr>
            <a:r>
              <a:rPr lang="en-US" dirty="0"/>
              <a:t>Higher temperatures show a slight positive relationship with charging sessions</a:t>
            </a:r>
          </a:p>
          <a:p>
            <a:pPr>
              <a:defRPr sz="2000"/>
            </a:pPr>
            <a:r>
              <a:rPr lang="en-US" dirty="0"/>
              <a:t>Forecast model captures short-term demand trends, with increasing uncertainty further out</a:t>
            </a:r>
          </a:p>
          <a:p>
            <a:pPr>
              <a:defRPr sz="2000"/>
            </a:pPr>
            <a:r>
              <a:rPr lang="en-US" dirty="0"/>
              <a:t>Los Angeles and San Francisco show stable activity, while Chicago and New York exhibit strong weather sensitivity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4633-8245-A6D3-4CFF-3D31AE793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D71EF-0792-AD2C-278C-6CE7E43B0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B96"/>
                </a:solidFill>
              </a:defRPr>
            </a:pPr>
            <a:r>
              <a:rPr lang="en-US" dirty="0"/>
              <a:t>Future Enhancements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AF2C7-976E-08C1-3127-3B9062469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lang="en-US" b="1" dirty="0"/>
              <a:t>Expand Forecasting Models</a:t>
            </a:r>
            <a:br>
              <a:rPr lang="en-US" dirty="0"/>
            </a:br>
            <a:r>
              <a:rPr lang="en-US" dirty="0"/>
              <a:t>Explore Prophet, Gradient Boosted Trees, or LSTM models for longer-range predictions and improved seasonality capture</a:t>
            </a:r>
          </a:p>
          <a:p>
            <a:pPr>
              <a:defRPr sz="2000"/>
            </a:pPr>
            <a:r>
              <a:rPr lang="en-US" b="1" dirty="0"/>
              <a:t>User Behavior Segmentation</a:t>
            </a:r>
            <a:br>
              <a:rPr lang="en-US" dirty="0"/>
            </a:br>
            <a:r>
              <a:rPr lang="en-US" dirty="0"/>
              <a:t>Cluster charging patterns by user type (commuter, long-distance traveler) to identify behavioral profiles and tailored recommendations</a:t>
            </a:r>
          </a:p>
          <a:p>
            <a:pPr>
              <a:defRPr sz="2000"/>
            </a:pPr>
            <a:r>
              <a:rPr lang="en-US" b="1" dirty="0"/>
              <a:t>Deeper Environmental Modeling</a:t>
            </a:r>
            <a:br>
              <a:rPr lang="en-US" dirty="0"/>
            </a:br>
            <a:r>
              <a:rPr lang="en-US" dirty="0"/>
              <a:t>Incorporate humidity, precipitation, or seasonal variables to improve forecasting accuracy under different weather conditions</a:t>
            </a:r>
          </a:p>
        </p:txBody>
      </p:sp>
    </p:spTree>
    <p:extLst>
      <p:ext uri="{BB962C8B-B14F-4D97-AF65-F5344CB8AC3E}">
        <p14:creationId xmlns:p14="http://schemas.microsoft.com/office/powerpoint/2010/main" val="236177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253</Words>
  <Application>Microsoft Macintosh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EV Charging Demand &amp; Forecast Dashboard</vt:lpstr>
      <vt:lpstr>Technical Stack</vt:lpstr>
      <vt:lpstr>High Level Data Metrics</vt:lpstr>
      <vt:lpstr>Dashboard Screenshot</vt:lpstr>
      <vt:lpstr>Key Findings</vt:lpstr>
      <vt:lpstr>Future Enhancements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Emily Cheng</cp:lastModifiedBy>
  <cp:revision>2</cp:revision>
  <dcterms:created xsi:type="dcterms:W3CDTF">2013-01-27T09:14:16Z</dcterms:created>
  <dcterms:modified xsi:type="dcterms:W3CDTF">2025-12-02T22:22:58Z</dcterms:modified>
  <cp:category/>
</cp:coreProperties>
</file>